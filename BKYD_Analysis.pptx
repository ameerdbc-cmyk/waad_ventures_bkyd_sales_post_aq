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664972-6319-DF59-8B14-6657365AE167}" v="32" dt="2026-05-05T07:52:16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85D26"/>
            </a:solidFill>
            <a:effectLst/>
          </c:spPr>
          <c:invertIfNegative val="0"/>
          <c:cat>
            <c:strRef>
              <c:f>Sheet1!$A$2:$A$14</c:f>
              <c:strCache>
                <c:ptCount val="13"/>
                <c:pt idx="0">
                  <c:v>Six Yard</c:v>
                </c:pt>
                <c:pt idx="1">
                  <c:v>Brisket</c:v>
                </c:pt>
                <c:pt idx="2">
                  <c:v>Brisket Burger</c:v>
                </c:pt>
                <c:pt idx="3">
                  <c:v>Short Ribs</c:v>
                </c:pt>
                <c:pt idx="4">
                  <c:v>Chef Yard Burger</c:v>
                </c:pt>
                <c:pt idx="5">
                  <c:v>Lamb Shank</c:v>
                </c:pt>
                <c:pt idx="6">
                  <c:v>Cheeseyrd Burger</c:v>
                </c:pt>
                <c:pt idx="7">
                  <c:v>Mango Lemonade</c:v>
                </c:pt>
                <c:pt idx="8">
                  <c:v>Brisket Poutine</c:v>
                </c:pt>
                <c:pt idx="9">
                  <c:v>Mac &amp; Cheese</c:v>
                </c:pt>
                <c:pt idx="10">
                  <c:v>Milkshakes</c:v>
                </c:pt>
                <c:pt idx="11">
                  <c:v>Wings</c:v>
                </c:pt>
                <c:pt idx="12">
                  <c:v>Smoked Sausages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31000</c:v>
                </c:pt>
                <c:pt idx="1">
                  <c:v>18000</c:v>
                </c:pt>
                <c:pt idx="2">
                  <c:v>15000</c:v>
                </c:pt>
                <c:pt idx="3">
                  <c:v>12000</c:v>
                </c:pt>
                <c:pt idx="4">
                  <c:v>10500</c:v>
                </c:pt>
                <c:pt idx="5">
                  <c:v>9800</c:v>
                </c:pt>
                <c:pt idx="6">
                  <c:v>9200</c:v>
                </c:pt>
                <c:pt idx="7">
                  <c:v>7500</c:v>
                </c:pt>
                <c:pt idx="8">
                  <c:v>6800</c:v>
                </c:pt>
                <c:pt idx="9">
                  <c:v>6200</c:v>
                </c:pt>
                <c:pt idx="10">
                  <c:v>5800</c:v>
                </c:pt>
                <c:pt idx="11">
                  <c:v>5400</c:v>
                </c:pt>
                <c:pt idx="12">
                  <c:v>4900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6C-4744-A289-972E5A0613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BBBB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44444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BBBB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C2C2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Sweet Cornbread</c:v>
                </c:pt>
                <c:pt idx="1">
                  <c:v>Regular Poutine</c:v>
                </c:pt>
                <c:pt idx="2">
                  <c:v>Mac Salad</c:v>
                </c:pt>
                <c:pt idx="3">
                  <c:v>Party Fries</c:v>
                </c:pt>
                <c:pt idx="4">
                  <c:v>Mush. Mac</c:v>
                </c:pt>
                <c:pt idx="5">
                  <c:v>Pulled Chx Poutine</c:v>
                </c:pt>
                <c:pt idx="6">
                  <c:v>Rice</c:v>
                </c:pt>
                <c:pt idx="7">
                  <c:v>Chx Quarters</c:v>
                </c:pt>
                <c:pt idx="8">
                  <c:v>Crush</c:v>
                </c:pt>
                <c:pt idx="9">
                  <c:v>Ice Cream</c:v>
                </c:pt>
                <c:pt idx="10">
                  <c:v>Baby Potatoes</c:v>
                </c:pt>
                <c:pt idx="11">
                  <c:v>Coleslaw</c:v>
                </c:pt>
                <c:pt idx="12">
                  <c:v>Mush. Confit</c:v>
                </c:pt>
                <c:pt idx="13">
                  <c:v>Chx Mac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19</c:v>
                </c:pt>
                <c:pt idx="1">
                  <c:v>18</c:v>
                </c:pt>
                <c:pt idx="2">
                  <c:v>17</c:v>
                </c:pt>
                <c:pt idx="3">
                  <c:v>17</c:v>
                </c:pt>
                <c:pt idx="4">
                  <c:v>16</c:v>
                </c:pt>
                <c:pt idx="5">
                  <c:v>16</c:v>
                </c:pt>
                <c:pt idx="6">
                  <c:v>16</c:v>
                </c:pt>
                <c:pt idx="7">
                  <c:v>12</c:v>
                </c:pt>
                <c:pt idx="8">
                  <c:v>11</c:v>
                </c:pt>
                <c:pt idx="9">
                  <c:v>10</c:v>
                </c:pt>
                <c:pt idx="10">
                  <c:v>8</c:v>
                </c:pt>
                <c:pt idx="11">
                  <c:v>8</c:v>
                </c:pt>
                <c:pt idx="12">
                  <c:v>3</c:v>
                </c:pt>
                <c:pt idx="1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88-4632-A93F-8AE2B4A79A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4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5C98A-58E5-4D12-8397-279BE3835FFB}" type="datetimeFigureOut"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A6663-DC94-4A4A-98D8-D390DF0325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172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Post-Acquisition Performance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0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Sales with Untapped Revenue Opportunities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2286000" cy="36576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017520"/>
            <a:ext cx="731520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The Backyard Smokehouse  |  March – April Analysis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en-US" sz="1100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WAAD Ventures| Ameer </a:t>
            </a:r>
            <a:r>
              <a:rPr lang="en-US" sz="1100" dirty="0" err="1">
                <a:solidFill>
                  <a:srgbClr val="8A8A8A"/>
                </a:solidFill>
                <a:latin typeface="Calibri"/>
                <a:ea typeface="Calibri"/>
                <a:cs typeface="Calibri"/>
              </a:rPr>
              <a:t>Eldebassy</a:t>
            </a:r>
            <a:endParaRPr lang="en-US" sz="1100" dirty="0" err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005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post-acquisition performance and identify opportunities to increase revenue through operational improvements and menu optimization.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3200400"/>
            <a:ext cx="3931920" cy="1371600"/>
          </a:xfrm>
          <a:prstGeom prst="rect">
            <a:avLst/>
          </a:prstGeom>
          <a:solidFill>
            <a:srgbClr val="2C2C2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3200400"/>
            <a:ext cx="73152" cy="13716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3291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Execution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37033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team is converting demand into revenue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3200400"/>
            <a:ext cx="3931920" cy="1371600"/>
          </a:xfrm>
          <a:prstGeom prst="rect">
            <a:avLst/>
          </a:prstGeom>
          <a:solidFill>
            <a:srgbClr val="2C2C2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3200400"/>
            <a:ext cx="73152" cy="13716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32918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Optimization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0" y="37033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items drive revenue vs. which underperform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2C2C2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114300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08760" y="10058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Remained Stable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417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–0.3% change despite Ramadan and reduced hours post-acquisition. Strong baseline demand validated.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143000"/>
          </a:xfrm>
          <a:prstGeom prst="rect">
            <a:avLst/>
          </a:prstGeom>
          <a:solidFill>
            <a:srgbClr val="2C2C2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73152" cy="1143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508760" y="23317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Revenue Concentration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of revenue from top 13 items. ~50% from BBQ Platters alone. Strength — and dependency risk.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8229600" cy="1143000"/>
          </a:xfrm>
          <a:prstGeom prst="rect">
            <a:avLst/>
          </a:prstGeom>
          <a:solidFill>
            <a:srgbClr val="2C2C2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566160"/>
            <a:ext cx="73152" cy="11430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118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508760" y="3657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Missed Upside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069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Desserts = 0.8% of revenue. Modifiers = 0.6%. Both are high-margin and significantly underutilized.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STABILITY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28016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$121,875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Sales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560320" cy="128016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$121,542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Sales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874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Post-Ramadan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560320" cy="128016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1874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Near-flat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Change by Category: April vs. March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 Yard's +$7.2K gain offsets declines elsewhere — overall revenue held steady.</a:t>
            </a:r>
            <a:endParaRPr lang="en-US" sz="1000" dirty="0"/>
          </a:p>
        </p:txBody>
      </p:sp>
      <p:pic>
        <p:nvPicPr>
          <p:cNvPr id="19" name="Picture 18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7D7E9603-27F3-85CB-8771-B8601C34A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803" y="2789577"/>
            <a:ext cx="6967650" cy="19267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286000" cy="1828800"/>
          </a:xfrm>
          <a:prstGeom prst="rect">
            <a:avLst/>
          </a:prstGeom>
          <a:solidFill>
            <a:srgbClr val="2C2C2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13 items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2286000" cy="1371600"/>
          </a:xfrm>
          <a:prstGeom prst="rect">
            <a:avLst/>
          </a:prstGeom>
          <a:solidFill>
            <a:srgbClr val="2C2C2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017520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0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" y="3703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BBQ Platters alone</a:t>
            </a:r>
            <a:endParaRPr lang="en-US" sz="13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2926080" y="91440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if these items underperform, revenue drops fast. Diversification reduces risk.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OPPORTUNITIES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Items (Units Sold, April)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3444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822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Categories: Current Share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0" y="1280160"/>
            <a:ext cx="3383280" cy="13716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0" y="1371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486400" y="1965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 Share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0" y="2286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5%+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0" y="2926080"/>
            <a:ext cx="3383280" cy="13716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0" y="30175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5486400" y="3611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Share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2%+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desserts and modifiers are high-margin with near-zero marketing cost to grow.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Revenue Through Upselling &amp; Menu Optimization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97480" cy="3291840"/>
          </a:xfrm>
          <a:prstGeom prst="rect">
            <a:avLst/>
          </a:prstGeom>
          <a:solidFill>
            <a:srgbClr val="2C2C2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2697480" cy="50292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Staff Retraining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5552" y="1554879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upselling across all servers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"Were you thinking of dessert today?"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 during pre-shift briefings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add-ons at time of order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2797" y="1555277"/>
            <a:ext cx="2697480" cy="3291840"/>
          </a:xfrm>
          <a:prstGeom prst="rect">
            <a:avLst/>
          </a:prstGeom>
          <a:solidFill>
            <a:srgbClr val="2C2C2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508760"/>
            <a:ext cx="2697480" cy="502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Dessert Push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5912" y="1508361"/>
            <a:ext cx="246888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lava cake as signature dessert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desserts with BBQ platters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verbal cues &amp; visual menu prominence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/>
                <a:ea typeface="Calibri"/>
                <a:cs typeface="Calibri"/>
              </a:rPr>
              <a:t>Target: </a:t>
            </a:r>
            <a:endParaRPr lang="en-US" sz="11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buSzPct val="100000"/>
            </a:pPr>
            <a:r>
              <a:rPr lang="en-US" sz="1100">
                <a:solidFill>
                  <a:srgbClr val="CCCCCC"/>
                </a:solidFill>
                <a:latin typeface="Calibri"/>
                <a:ea typeface="Calibri"/>
                <a:cs typeface="Calibri"/>
              </a:rPr>
              <a:t>   raise attach rate 0.8% → </a:t>
            </a:r>
            <a:r>
              <a:rPr lang="en-US" sz="1100" dirty="0">
                <a:solidFill>
                  <a:srgbClr val="CCCCCC"/>
                </a:solidFill>
                <a:latin typeface="Calibri"/>
                <a:ea typeface="Calibri"/>
                <a:cs typeface="Calibri"/>
              </a:rPr>
              <a:t>5%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97480" cy="3291840"/>
          </a:xfrm>
          <a:prstGeom prst="rect">
            <a:avLst/>
          </a:prstGeom>
          <a:solidFill>
            <a:srgbClr val="2C2C2C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508760"/>
            <a:ext cx="2697480" cy="50292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554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Menu Optimization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6272" y="1508361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Reevaluate mushroom &amp; fried chicken items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Reposition, replace, or remove low sellers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items with highest margin potential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menu complexity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1430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11430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 Attach Rate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 → 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1097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+$300–$600/day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92240" y="1188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$8 dessert × increased covers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8412480" cy="11430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40280"/>
            <a:ext cx="73152" cy="1143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Revenue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0.6% → 2%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423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+$1K–$3K/month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92240" y="25146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add-ons with near-100% margin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8412480" cy="11430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66160"/>
            <a:ext cx="73152" cy="1143000"/>
          </a:xfrm>
          <a:prstGeom prst="rect">
            <a:avLst/>
          </a:prstGeom>
          <a:solidFill>
            <a:srgbClr val="2E7D5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Efficiency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SKUs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waste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92240" y="38404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slow items = better inventory turns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modest improvements in upselling behavior could generate meaningful incremental revenue given the high-margin nature of desserts and modifiers.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F07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Is Strong.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5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It's Time to Optimize.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880360"/>
            <a:ext cx="5486400" cy="36576"/>
          </a:xfrm>
          <a:prstGeom prst="rect">
            <a:avLst/>
          </a:prstGeom>
          <a:solidFill>
            <a:srgbClr val="E85D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63240"/>
            <a:ext cx="8046720" cy="1097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Calibri"/>
                <a:ea typeface="Calibri"/>
                <a:cs typeface="Calibri"/>
              </a:rPr>
              <a:t>Core performance is stable. The primary revenue opportunity lies in unlocking incremental revenue </a:t>
            </a:r>
            <a:r>
              <a:rPr lang="en-US" sz="1500">
                <a:solidFill>
                  <a:srgbClr val="CCCCCC"/>
                </a:solidFill>
                <a:latin typeface="Calibri"/>
                <a:ea typeface="Calibri"/>
                <a:cs typeface="Calibri"/>
              </a:rPr>
              <a:t>through improved operational execution, not increased demand.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Backyard  |  Post-Acquisition 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Backyard Post-Acquisition Performance</dc:title>
  <dc:subject>PptxGenJS Presentation</dc:subject>
  <dc:creator>PptxGenJS</dc:creator>
  <cp:lastModifiedBy>PptxGenJS</cp:lastModifiedBy>
  <cp:revision>21</cp:revision>
  <dcterms:created xsi:type="dcterms:W3CDTF">2026-05-05T07:31:11Z</dcterms:created>
  <dcterms:modified xsi:type="dcterms:W3CDTF">2026-05-05T07:52:36Z</dcterms:modified>
</cp:coreProperties>
</file>